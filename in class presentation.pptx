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8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1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2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5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6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6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14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67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3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71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779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09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38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85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55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2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55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Tilahun_Capstone3.pbix" TargetMode="External"/><Relationship Id="rId2" Type="http://schemas.openxmlformats.org/officeDocument/2006/relationships/hyperlink" Target="https://github.com/HanaETilahun/Capstone_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DA7E88-41ED-1DCA-D86B-7315C79DF5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4773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20C29B-20DA-32D2-63B8-686104790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b="1" dirty="0">
                <a:latin typeface="Aharoni" panose="02010803020104030203" pitchFamily="2" charset="-79"/>
                <a:ea typeface="ADLaM Display" panose="020F0502020204030204" pitchFamily="2" charset="0"/>
                <a:cs typeface="Aharoni" panose="02010803020104030203" pitchFamily="2" charset="-79"/>
              </a:rPr>
              <a:t>West Region Sales Performance Analysis (2022–2025) EmporiUM</a:t>
            </a:r>
            <a:br>
              <a:rPr lang="en-US" sz="2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29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Hana Tilahun</a:t>
            </a:r>
            <a:b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Year Up United Data Analyst</a:t>
            </a:r>
            <a:b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Capstone 3 </a:t>
            </a:r>
            <a:b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29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06/25/2026</a:t>
            </a:r>
            <a:br>
              <a:rPr lang="en-US" sz="2900" dirty="0"/>
            </a:br>
            <a:endParaRPr lang="en-US" sz="2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63"/>
    </mc:Choice>
    <mc:Fallback xmlns="">
      <p:transition spd="slow" advTm="455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2" name="Oval 7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D9679-AE5E-CB93-3C58-EA34343EB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837" y="1325880"/>
            <a:ext cx="354346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fontAlgn="base">
              <a:lnSpc>
                <a:spcPct val="90000"/>
              </a:lnSpc>
              <a:spcAft>
                <a:spcPct val="0"/>
              </a:spcAft>
            </a:pPr>
            <a:r>
              <a:rPr lang="en-US" sz="1900">
                <a:solidFill>
                  <a:srgbClr val="EBEBEB"/>
                </a:solidFill>
              </a:rPr>
              <a:t>Business Objective</a:t>
            </a:r>
            <a:br>
              <a:rPr lang="en-US" sz="1900">
                <a:solidFill>
                  <a:srgbClr val="EBEBEB"/>
                </a:solidFill>
              </a:rPr>
            </a:br>
            <a:br>
              <a:rPr lang="en-US" altLang="en-US" sz="1900">
                <a:solidFill>
                  <a:srgbClr val="EBEBEB"/>
                </a:solidFill>
              </a:rPr>
            </a:br>
            <a:r>
              <a:rPr lang="en-US" altLang="en-US" sz="1900">
                <a:solidFill>
                  <a:srgbClr val="EBEBEB"/>
                </a:solidFill>
              </a:rPr>
              <a:t>Analyze West Region sales </a:t>
            </a:r>
            <a:br>
              <a:rPr lang="en-US" altLang="en-US" sz="1900">
                <a:solidFill>
                  <a:srgbClr val="EBEBEB"/>
                </a:solidFill>
              </a:rPr>
            </a:br>
            <a:r>
              <a:rPr lang="en-US" altLang="en-US" sz="1900">
                <a:solidFill>
                  <a:srgbClr val="EBEBEB"/>
                </a:solidFill>
              </a:rPr>
              <a:t>Combine store and online sales </a:t>
            </a:r>
            <a:br>
              <a:rPr lang="en-US" altLang="en-US" sz="1900">
                <a:solidFill>
                  <a:srgbClr val="EBEBEB"/>
                </a:solidFill>
              </a:rPr>
            </a:br>
            <a:r>
              <a:rPr lang="en-US" altLang="en-US" sz="1900">
                <a:solidFill>
                  <a:srgbClr val="EBEBEB"/>
                </a:solidFill>
              </a:rPr>
              <a:t>Identify sales trends </a:t>
            </a:r>
            <a:br>
              <a:rPr lang="en-US" altLang="en-US" sz="1900">
                <a:solidFill>
                  <a:srgbClr val="EBEBEB"/>
                </a:solidFill>
              </a:rPr>
            </a:br>
            <a:r>
              <a:rPr lang="en-US" altLang="en-US" sz="1900">
                <a:solidFill>
                  <a:srgbClr val="EBEBEB"/>
                </a:solidFill>
              </a:rPr>
              <a:t>Compare book categories </a:t>
            </a:r>
            <a:br>
              <a:rPr lang="en-US" altLang="en-US" sz="1900">
                <a:solidFill>
                  <a:srgbClr val="EBEBEB"/>
                </a:solidFill>
              </a:rPr>
            </a:br>
            <a:r>
              <a:rPr lang="en-US" altLang="en-US" sz="1900">
                <a:solidFill>
                  <a:srgbClr val="EBEBEB"/>
                </a:solidFill>
              </a:rPr>
              <a:t>Discover top-selling books </a:t>
            </a:r>
            <a:br>
              <a:rPr lang="en-US" altLang="en-US" sz="1900">
                <a:solidFill>
                  <a:srgbClr val="EBEBEB"/>
                </a:solidFill>
              </a:rPr>
            </a:br>
            <a:r>
              <a:rPr lang="en-US" altLang="en-US" sz="1900">
                <a:solidFill>
                  <a:srgbClr val="EBEBEB"/>
                </a:solidFill>
              </a:rPr>
              <a:t>Support business decisions</a:t>
            </a:r>
            <a:endParaRPr lang="en-US" sz="1900">
              <a:solidFill>
                <a:srgbClr val="EBEBEB"/>
              </a:solidFill>
            </a:endParaRPr>
          </a:p>
        </p:txBody>
      </p:sp>
      <p:sp>
        <p:nvSpPr>
          <p:cNvPr id="82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13666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4DB08D-02C1-E969-47A0-6AA49A6E41E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454" r="10978" b="1"/>
          <a:stretch>
            <a:fillRect/>
          </a:stretch>
        </p:blipFill>
        <p:spPr>
          <a:xfrm>
            <a:off x="20" y="10"/>
            <a:ext cx="7759920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3198E8-6BE7-A8ED-5FBC-26800719D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76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25"/>
    </mc:Choice>
    <mc:Fallback xmlns="">
      <p:transition spd="slow" advTm="407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787B81-C7DF-412B-A405-EF445401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7EE45-91F7-1788-6C4C-8E31CBBC6A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2451" r="3106" b="1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7F24DB-0315-7CA7-3018-7D8DED4D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Data Preparation and Modeling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DA61A9-60C7-386C-993C-361CDFE7B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052918"/>
            <a:ext cx="8946541" cy="41954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Imported Excel data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Cleaned headers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Created Date column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Appended Store + Online Sales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Created relationships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Merged Products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Added Authors </a:t>
            </a:r>
          </a:p>
        </p:txBody>
      </p:sp>
    </p:spTree>
    <p:extLst>
      <p:ext uri="{BB962C8B-B14F-4D97-AF65-F5344CB8AC3E}">
        <p14:creationId xmlns:p14="http://schemas.microsoft.com/office/powerpoint/2010/main" val="200408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23"/>
    </mc:Choice>
    <mc:Fallback xmlns="">
      <p:transition spd="slow" advTm="4432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C5248-FC99-80BD-8EF5-E80D8A03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Monthly Sales Trend (2022–2025)</a:t>
            </a:r>
          </a:p>
        </p:txBody>
      </p:sp>
      <p:sp>
        <p:nvSpPr>
          <p:cNvPr id="38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60BC6C-9794-D149-E650-1C312AD30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3514" y="647698"/>
            <a:ext cx="6332309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66572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7385"/>
    </mc:Choice>
    <mc:Fallback xmlns="">
      <p:transition spd="slow" advTm="47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C1A07-BC4A-D981-BB32-24188757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Sales by Book Category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7EDD66-157F-DC3F-EC3C-96180E1E1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43854" y="1281067"/>
            <a:ext cx="6270662" cy="42954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09219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5516"/>
    </mc:Choice>
    <mc:Fallback xmlns="">
      <p:transition spd="slow" advTm="355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3879C-AB4A-FE3D-B51C-88ADE16F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Sales Distribution Across Colorado Store Locations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82E9F-6E3C-86AA-CDCB-B1A0ED649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43854" y="755899"/>
            <a:ext cx="6270662" cy="534573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92020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8268"/>
    </mc:Choice>
    <mc:Fallback xmlns="">
      <p:transition spd="slow" advTm="4826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DB8294-BBF5-4EE7-8D08-DDECD12A1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AA68CD-BBCC-4482-B4F9-3EBE3A75D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B58816D9-9E81-4B2B-95D3-C398BF15E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161CE9-0E8C-F813-C3F9-E2447CA96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759802" y="457201"/>
            <a:ext cx="4026463" cy="3470726"/>
          </a:xfrm>
          <a:prstGeom prst="rect">
            <a:avLst/>
          </a:prstGeom>
          <a:effectLst/>
        </p:spPr>
      </p:pic>
      <p:sp useBgFill="1">
        <p:nvSpPr>
          <p:cNvPr id="30" name="Freeform 5">
            <a:extLst>
              <a:ext uri="{FF2B5EF4-FFF2-40B4-BE49-F238E27FC236}">
                <a16:creationId xmlns:a16="http://schemas.microsoft.com/office/drawing/2014/main" id="{BD26E291-370D-448F-BDB9-9A5999D46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4055532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9DD5E-2F28-3AF1-B0EB-683A8290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58" y="4854344"/>
            <a:ext cx="9345155" cy="8618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Best-Selling Books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3D3D9-4ED7-2188-5BCE-50CACCD84F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55" y="326571"/>
            <a:ext cx="4352664" cy="36013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8743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18"/>
    </mc:Choice>
    <mc:Fallback xmlns="">
      <p:transition spd="slow" advTm="4031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4DDC893-E5EF-4CDE-B040-BA5B53AAD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5F1A06D-D369-4974-8208-56120C5E7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AD27A50-88D7-4E2A-8488-F2879768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7C6ACD-2325-48C6-B9F3-C21563A05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081DF83-4F35-4560-87E6-0DE8AAAC3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C704F0F-1CD8-4DC1-AEE9-225958232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C103D-35FD-2D72-5437-64118E5F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382" y="2532674"/>
            <a:ext cx="3342459" cy="35295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br>
              <a:rPr 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Continue investing in Study Guides. 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Increase inventory for best-selling books. 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Analyze high-performing store locations to identify successful practices. 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Promote lower-performing categories through targeted marketing. 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Continue monitoring monthly sales trends for seasonal 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7FB869-B2DA-148B-648C-3F14C969C5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5"/>
          <a:stretch>
            <a:fillRect/>
          </a:stretch>
        </p:blipFill>
        <p:spPr>
          <a:xfrm>
            <a:off x="0" y="3429010"/>
            <a:ext cx="7546766" cy="342899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E581BA-C7F9-AA23-1634-090F3DB11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896" y="0"/>
            <a:ext cx="7544870" cy="3626036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9C1352B4-32D7-08EF-AA95-93613FF7F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2650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FB6384-F0C9-58FA-6931-136AE238290D}"/>
              </a:ext>
            </a:extLst>
          </p:cNvPr>
          <p:cNvSpPr txBox="1"/>
          <p:nvPr/>
        </p:nvSpPr>
        <p:spPr>
          <a:xfrm>
            <a:off x="7708392" y="1609344"/>
            <a:ext cx="4398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Recommendations &amp; conclusion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92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280"/>
    </mc:Choice>
    <mc:Fallback xmlns="">
      <p:transition spd="slow" advTm="572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E4C9-88F3-B789-19F5-0DD6AE32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061882"/>
          </a:xfrm>
        </p:spPr>
        <p:txBody>
          <a:bodyPr/>
          <a:lstStyle/>
          <a:p>
            <a:r>
              <a:rPr lang="en-US" sz="1400" dirty="0"/>
              <a:t>Git Hub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hlinkClick r:id="rId2"/>
              </a:rPr>
              <a:t>https://github.com/HanaETilahun/Capstone_3</a:t>
            </a:r>
            <a:br>
              <a:rPr lang="en-US" sz="1400" dirty="0"/>
            </a:br>
            <a:r>
              <a:rPr lang="en-US" sz="1400" dirty="0"/>
              <a:t>Power BI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hlinkClick r:id="rId3" action="ppaction://hlinkfile"/>
              </a:rPr>
              <a:t>https://yearuptemp-my.sharepoint.com/:u:/g/personal/htilahun_my_yearupunited_org/IQBtpPaW0XsQSayohL4RV8_WAR0fzmZyczfk2pWDHb4ewgU?e=gFiLxy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08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143</TotalTime>
  <Words>193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ADLaM Display</vt:lpstr>
      <vt:lpstr>Aharoni</vt:lpstr>
      <vt:lpstr>Algerian</vt:lpstr>
      <vt:lpstr>Arial</vt:lpstr>
      <vt:lpstr>Century Gothic</vt:lpstr>
      <vt:lpstr>Wingdings 3</vt:lpstr>
      <vt:lpstr>Ion</vt:lpstr>
      <vt:lpstr>West Region Sales Performance Analysis (2022–2025) EmporiUM  Hana Tilahun Year Up United Data Analyst Capstone 3  06/25/2026 </vt:lpstr>
      <vt:lpstr>Business Objective  Analyze West Region sales  Combine store and online sales  Identify sales trends  Compare book categories  Discover top-selling books  Support business decisions</vt:lpstr>
      <vt:lpstr>Data Preparation and Modeling</vt:lpstr>
      <vt:lpstr>Monthly Sales Trend (2022–2025)</vt:lpstr>
      <vt:lpstr>Sales by Book Category</vt:lpstr>
      <vt:lpstr>Sales Distribution Across Colorado Store Locations</vt:lpstr>
      <vt:lpstr>Best-Selling Books</vt:lpstr>
      <vt:lpstr> Continue investing in Study Guides.  Increase inventory for best-selling books.  Analyze high-performing store locations to identify successful practices.  Promote lower-performing categories through targeted marketing.  Continue monitoring monthly sales trends for seasonal </vt:lpstr>
      <vt:lpstr>Git Hub  https://github.com/HanaETilahun/Capstone_3 Power BI  https://yearuptemp-my.sharepoint.com/:u:/g/personal/htilahun_my_yearupunited_org/IQBtpPaW0XsQSayohL4RV8_WAR0fzmZyczfk2pWDHb4ewgU?e=gFiLxy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hana tilahun</dc:creator>
  <cp:lastModifiedBy>hana tilahun</cp:lastModifiedBy>
  <cp:revision>5</cp:revision>
  <dcterms:created xsi:type="dcterms:W3CDTF">2026-06-25T16:34:42Z</dcterms:created>
  <dcterms:modified xsi:type="dcterms:W3CDTF">2026-06-26T12:42:08Z</dcterms:modified>
</cp:coreProperties>
</file>